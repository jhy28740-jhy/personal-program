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" y="755660"/>
            <a:ext cx="2902123" cy="290212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228" y="5827563"/>
            <a:ext cx="2140153" cy="2140153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720" y="1599560"/>
            <a:ext cx="549920" cy="54992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22960" y="1606418"/>
            <a:ext cx="2648742" cy="480060"/>
          </a:xfrm>
          <a:prstGeom prst="roundRect">
            <a:avLst>
              <a:gd name="adj" fmla="val 31394"/>
            </a:avLst>
          </a:prstGeom>
          <a:solidFill>
            <a:srgbClr val="23232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66700" dist="114300" dir="5400000" algn="bl" rotWithShape="0">
              <a:srgbClr val="14141C">
                <a:alpha val="28000"/>
              </a:srgbClr>
            </a:outerShdw>
          </a:effectLst>
        </p:spPr>
      </p:sp>
      <p:sp>
        <p:nvSpPr>
          <p:cNvPr id="8" name="Shape 2"/>
          <p:cNvSpPr/>
          <p:nvPr/>
        </p:nvSpPr>
        <p:spPr>
          <a:xfrm>
            <a:off x="1021110" y="1793047"/>
            <a:ext cx="106710" cy="10671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1226850" y="1697858"/>
            <a:ext cx="2198503" cy="3246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20" b="1" kern="0" spc="8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讯飞 医疗· AI测试部</a:t>
            </a:r>
            <a:endParaRPr lang="en-US" sz="1620" dirty="0"/>
          </a:p>
        </p:txBody>
      </p:sp>
      <p:sp>
        <p:nvSpPr>
          <p:cNvPr id="10" name="Text 4"/>
          <p:cNvSpPr/>
          <p:nvPr/>
        </p:nvSpPr>
        <p:spPr>
          <a:xfrm>
            <a:off x="822960" y="2181821"/>
            <a:ext cx="3098993" cy="1460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110"/>
              </a:lnSpc>
              <a:buNone/>
            </a:pPr>
            <a:r>
              <a:rPr lang="en-US" sz="7800" b="1" kern="0" spc="117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纪浩阳</a:t>
            </a:r>
            <a:endParaRPr lang="en-US" sz="7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79213"/>
            <a:ext cx="6105632" cy="29450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 rot="-60000">
            <a:off x="984169" y="3243315"/>
            <a:ext cx="4135283" cy="15574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110"/>
              </a:lnSpc>
              <a:buNone/>
            </a:pPr>
            <a:r>
              <a:rPr lang="en-US" sz="7800" b="1" kern="0" spc="117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个人周报</a:t>
            </a:r>
            <a:endParaRPr lang="en-US" sz="7800" dirty="0"/>
          </a:p>
        </p:txBody>
      </p:sp>
      <p:sp>
        <p:nvSpPr>
          <p:cNvPr id="13" name="Text 6"/>
          <p:cNvSpPr/>
          <p:nvPr/>
        </p:nvSpPr>
        <p:spPr>
          <a:xfrm>
            <a:off x="822960" y="4664903"/>
            <a:ext cx="6721274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b="1" kern="0" spc="378" dirty="0">
                <a:solidFill>
                  <a:srgbClr val="5B8DEF">
                    <a:alpha val="9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WEEKLY REPORT · 2026.7.13-7.17</a:t>
            </a:r>
            <a:endParaRPr lang="en-US" sz="1850" dirty="0"/>
          </a:p>
        </p:txBody>
      </p:sp>
      <p:sp>
        <p:nvSpPr>
          <p:cNvPr id="14" name="Text 7"/>
          <p:cNvSpPr/>
          <p:nvPr/>
        </p:nvSpPr>
        <p:spPr>
          <a:xfrm>
            <a:off x="822960" y="5147020"/>
            <a:ext cx="5425410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医疗检索项目测试与优化工作总结</a:t>
            </a:r>
            <a:endParaRPr lang="en-US" sz="1800" dirty="0"/>
          </a:p>
        </p:txBody>
      </p:sp>
      <p:sp>
        <p:nvSpPr>
          <p:cNvPr id="15" name="Shape 8"/>
          <p:cNvSpPr/>
          <p:nvPr/>
        </p:nvSpPr>
        <p:spPr>
          <a:xfrm rot="-120000">
            <a:off x="822960" y="5746913"/>
            <a:ext cx="1371600" cy="464790"/>
          </a:xfrm>
          <a:prstGeom prst="roundRect">
            <a:avLst>
              <a:gd name="adj" fmla="val 3492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 rot="-120000">
            <a:off x="1008400" y="5720761"/>
            <a:ext cx="1092159" cy="5445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自动化平台</a:t>
            </a:r>
            <a:endParaRPr lang="en-US" sz="1560" dirty="0"/>
          </a:p>
        </p:txBody>
      </p:sp>
      <p:sp>
        <p:nvSpPr>
          <p:cNvPr id="17" name="Shape 10"/>
          <p:cNvSpPr/>
          <p:nvPr/>
        </p:nvSpPr>
        <p:spPr>
          <a:xfrm rot="120000">
            <a:off x="2301270" y="5746913"/>
            <a:ext cx="1173450" cy="464790"/>
          </a:xfrm>
          <a:prstGeom prst="roundRect">
            <a:avLst>
              <a:gd name="adj" fmla="val 3492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 rot="120000">
            <a:off x="2487991" y="5730636"/>
            <a:ext cx="891449" cy="5248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性能测试</a:t>
            </a:r>
            <a:endParaRPr lang="en-US" sz="1560" dirty="0"/>
          </a:p>
        </p:txBody>
      </p:sp>
      <p:sp>
        <p:nvSpPr>
          <p:cNvPr id="19" name="Shape 12"/>
          <p:cNvSpPr/>
          <p:nvPr/>
        </p:nvSpPr>
        <p:spPr>
          <a:xfrm rot="-60000">
            <a:off x="3581430" y="5746913"/>
            <a:ext cx="1371600" cy="464790"/>
          </a:xfrm>
          <a:prstGeom prst="roundRect">
            <a:avLst>
              <a:gd name="adj" fmla="val 3492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90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 rot="-60000">
            <a:off x="3768608" y="5730179"/>
            <a:ext cx="1088593" cy="52559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测试集构建</a:t>
            </a:r>
            <a:endParaRPr lang="en-US" sz="156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0324" y="0"/>
            <a:ext cx="5180076" cy="809088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529030" y="2894899"/>
            <a:ext cx="240468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288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REPORT · 2026</a:t>
            </a:r>
            <a:endParaRPr lang="en-US" sz="1585" dirty="0"/>
          </a:p>
        </p:txBody>
      </p:sp>
      <p:sp>
        <p:nvSpPr>
          <p:cNvPr id="23" name="Text 15"/>
          <p:cNvSpPr/>
          <p:nvPr/>
        </p:nvSpPr>
        <p:spPr>
          <a:xfrm>
            <a:off x="11529030" y="3050005"/>
            <a:ext cx="968045" cy="9342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30"/>
              </a:lnSpc>
              <a:buNone/>
            </a:pPr>
            <a:r>
              <a:rPr lang="en-US" sz="5280" b="1" kern="0" spc="-180" dirty="0">
                <a:solidFill>
                  <a:srgbClr val="5B8D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</a:t>
            </a:r>
            <a:endParaRPr lang="en-US" sz="5280" dirty="0"/>
          </a:p>
        </p:txBody>
      </p:sp>
      <p:sp>
        <p:nvSpPr>
          <p:cNvPr id="24" name="Text 16"/>
          <p:cNvSpPr/>
          <p:nvPr/>
        </p:nvSpPr>
        <p:spPr>
          <a:xfrm>
            <a:off x="10812780" y="4118640"/>
            <a:ext cx="55997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288" dirty="0">
                <a:solidFill>
                  <a:srgbClr val="5B8DEF">
                    <a:alpha val="9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部门</a:t>
            </a:r>
            <a:endParaRPr lang="en-US" sz="1585" dirty="0"/>
          </a:p>
        </p:txBody>
      </p:sp>
      <p:sp>
        <p:nvSpPr>
          <p:cNvPr id="25" name="Text 17"/>
          <p:cNvSpPr/>
          <p:nvPr/>
        </p:nvSpPr>
        <p:spPr>
          <a:xfrm>
            <a:off x="10812780" y="4402927"/>
            <a:ext cx="1250899" cy="4236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216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AI测试部</a:t>
            </a:r>
            <a:endParaRPr lang="en-US" sz="2160" dirty="0"/>
          </a:p>
        </p:txBody>
      </p:sp>
      <p:sp>
        <p:nvSpPr>
          <p:cNvPr id="26" name="Text 18"/>
          <p:cNvSpPr/>
          <p:nvPr/>
        </p:nvSpPr>
        <p:spPr>
          <a:xfrm>
            <a:off x="822960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*/</a:t>
            </a:r>
            <a:endParaRPr lang="en-US" sz="1585" dirty="0"/>
          </a:p>
        </p:txBody>
      </p:sp>
      <p:sp>
        <p:nvSpPr>
          <p:cNvPr id="27" name="Text 19"/>
          <p:cNvSpPr/>
          <p:nvPr/>
        </p:nvSpPr>
        <p:spPr>
          <a:xfrm>
            <a:off x="1169792" y="7315200"/>
            <a:ext cx="3862471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灯塔研究院 · 横纵双维洞察 · 2026 编制</a:t>
            </a:r>
            <a:endParaRPr lang="en-US" sz="1585" dirty="0"/>
          </a:p>
        </p:txBody>
      </p:sp>
      <p:sp>
        <p:nvSpPr>
          <p:cNvPr id="28" name="Text 20"/>
          <p:cNvSpPr/>
          <p:nvPr/>
        </p:nvSpPr>
        <p:spPr>
          <a:xfrm>
            <a:off x="4866162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/*</a:t>
            </a:r>
            <a:endParaRPr lang="en-US" sz="15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0865" y="2382290"/>
            <a:ext cx="7926111" cy="66721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630"/>
              </a:lnSpc>
              <a:buNone/>
            </a:pPr>
            <a:r>
              <a:rPr lang="en-US" sz="59400" b="1" kern="0" spc="-200" dirty="0">
                <a:solidFill>
                  <a:srgbClr val="5B8DEF">
                    <a:alpha val="1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59400" dirty="0"/>
          </a:p>
        </p:txBody>
      </p:sp>
      <p:sp>
        <p:nvSpPr>
          <p:cNvPr id="5" name="Shape 2"/>
          <p:cNvSpPr/>
          <p:nvPr/>
        </p:nvSpPr>
        <p:spPr>
          <a:xfrm>
            <a:off x="822960" y="1828068"/>
            <a:ext cx="1153516" cy="313822"/>
          </a:xfrm>
          <a:prstGeom prst="roundRect">
            <a:avLst>
              <a:gd name="adj" fmla="val 33247"/>
            </a:avLst>
          </a:prstGeom>
          <a:solidFill>
            <a:srgbClr val="5B8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7260" y="1850928"/>
            <a:ext cx="255483" cy="2941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440" b="1" kern="0" spc="7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#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1101303" y="1850928"/>
            <a:ext cx="859993" cy="2941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440" b="1" kern="0" spc="7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本周工作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2113636" y="1840230"/>
            <a:ext cx="953670" cy="317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15" b="1" kern="0" spc="429" dirty="0">
                <a:solidFill>
                  <a:srgbClr val="5B8DEF">
                    <a:alpha val="9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PART</a:t>
            </a:r>
            <a:endParaRPr lang="en-US" sz="1715" dirty="0"/>
          </a:p>
        </p:txBody>
      </p:sp>
      <p:sp>
        <p:nvSpPr>
          <p:cNvPr id="9" name="Text 6"/>
          <p:cNvSpPr/>
          <p:nvPr/>
        </p:nvSpPr>
        <p:spPr>
          <a:xfrm>
            <a:off x="822960" y="2093126"/>
            <a:ext cx="2255520" cy="22829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825"/>
              </a:lnSpc>
              <a:buNone/>
            </a:pPr>
            <a:r>
              <a:rPr lang="en-US" sz="13200" b="1" kern="0" spc="-200" dirty="0">
                <a:solidFill>
                  <a:srgbClr val="5B8D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3200" dirty="0"/>
          </a:p>
        </p:txBody>
      </p:sp>
      <p:sp>
        <p:nvSpPr>
          <p:cNvPr id="10" name="Text 7"/>
          <p:cNvSpPr/>
          <p:nvPr/>
        </p:nvSpPr>
        <p:spPr>
          <a:xfrm>
            <a:off x="2795138" y="2610703"/>
            <a:ext cx="4709160" cy="10789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280"/>
              </a:lnSpc>
              <a:buNone/>
            </a:pPr>
            <a:r>
              <a:rPr lang="en-US" sz="9000" b="1" kern="0" spc="113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工作概览</a:t>
            </a:r>
            <a:endParaRPr lang="en-US" sz="9000" dirty="0"/>
          </a:p>
        </p:txBody>
      </p:sp>
      <p:sp>
        <p:nvSpPr>
          <p:cNvPr id="11" name="Text 8"/>
          <p:cNvSpPr/>
          <p:nvPr/>
        </p:nvSpPr>
        <p:spPr>
          <a:xfrm>
            <a:off x="822960" y="3787811"/>
            <a:ext cx="3322472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80" kern="0" spc="360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WEEKLY SUMMARY</a:t>
            </a:r>
            <a:endParaRPr lang="en-US" sz="1980" dirty="0"/>
          </a:p>
        </p:txBody>
      </p:sp>
      <p:sp>
        <p:nvSpPr>
          <p:cNvPr id="12" name="Text 9"/>
          <p:cNvSpPr/>
          <p:nvPr/>
        </p:nvSpPr>
        <p:spPr>
          <a:xfrm>
            <a:off x="822960" y="4323374"/>
            <a:ext cx="6864126" cy="3779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92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本周主要完成自动化平台升级、体检报告并发测试、疾控测试集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822960" y="4689134"/>
            <a:ext cx="3749040" cy="3779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92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构建和召回库建设四项核心任务。</a:t>
            </a:r>
            <a:endParaRPr lang="en-US" sz="1920" dirty="0"/>
          </a:p>
        </p:txBody>
      </p:sp>
      <p:sp>
        <p:nvSpPr>
          <p:cNvPr id="14" name="Shape 11"/>
          <p:cNvSpPr/>
          <p:nvPr/>
        </p:nvSpPr>
        <p:spPr>
          <a:xfrm rot="-60000">
            <a:off x="824514" y="5349972"/>
            <a:ext cx="2712750" cy="533370"/>
          </a:xfrm>
          <a:prstGeom prst="roundRect">
            <a:avLst>
              <a:gd name="adj" fmla="val 3043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 rot="-60000">
            <a:off x="1024677" y="5314493"/>
            <a:ext cx="2403775" cy="63175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800" b="1" kern="0" spc="22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自动化平台升级 100%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 rot="180000">
            <a:off x="3676345" y="5349972"/>
            <a:ext cx="2484150" cy="533370"/>
          </a:xfrm>
          <a:prstGeom prst="roundRect">
            <a:avLst>
              <a:gd name="adj" fmla="val 3043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 rot="180000">
            <a:off x="3875319" y="5296022"/>
            <a:ext cx="2177552" cy="66870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800" b="1" kern="0" spc="22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并发性能测试 100%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 rot="-180000">
            <a:off x="6297290" y="5349972"/>
            <a:ext cx="2118390" cy="533370"/>
          </a:xfrm>
          <a:prstGeom prst="roundRect">
            <a:avLst>
              <a:gd name="adj" fmla="val 3043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 rot="-180000">
            <a:off x="6495166" y="5285872"/>
            <a:ext cx="1814170" cy="68909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800" b="1" kern="0" spc="22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疾控测试集 50%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 rot="60000">
            <a:off x="8551469" y="5349972"/>
            <a:ext cx="2118390" cy="533370"/>
          </a:xfrm>
          <a:prstGeom prst="roundRect">
            <a:avLst>
              <a:gd name="adj" fmla="val 3043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 rot="60000">
            <a:off x="8753826" y="5322357"/>
            <a:ext cx="1805117" cy="61603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800" b="1" kern="0" spc="22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召回库构建 10%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" y="6188111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*/</a:t>
            </a:r>
            <a:endParaRPr lang="en-US" sz="1585" dirty="0"/>
          </a:p>
        </p:txBody>
      </p:sp>
      <p:sp>
        <p:nvSpPr>
          <p:cNvPr id="23" name="Text 20"/>
          <p:cNvSpPr/>
          <p:nvPr/>
        </p:nvSpPr>
        <p:spPr>
          <a:xfrm>
            <a:off x="1169792" y="6188111"/>
            <a:ext cx="2577465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章节导航 · 纵向看市场节奏</a:t>
            </a:r>
            <a:endParaRPr lang="en-US" sz="1585" dirty="0"/>
          </a:p>
        </p:txBody>
      </p:sp>
      <p:sp>
        <p:nvSpPr>
          <p:cNvPr id="24" name="Text 21"/>
          <p:cNvSpPr/>
          <p:nvPr/>
        </p:nvSpPr>
        <p:spPr>
          <a:xfrm>
            <a:off x="3568537" y="6188111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/*</a:t>
            </a:r>
            <a:endParaRPr lang="en-US" sz="15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989381" cy="313822"/>
          </a:xfrm>
          <a:prstGeom prst="roundRect">
            <a:avLst>
              <a:gd name="adj" fmla="val 33247"/>
            </a:avLst>
          </a:prstGeom>
          <a:solidFill>
            <a:srgbClr val="46B0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859993" cy="34125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440" b="1" kern="0" spc="7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重点成果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15"/>
              </a:lnSpc>
              <a:buNone/>
            </a:pPr>
            <a:r>
              <a:rPr lang="en-US" sz="4680" b="1" kern="0" spc="70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本周亮点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89460"/>
            <a:ext cx="3558052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kern="0" spc="336" dirty="0">
                <a:solidFill>
                  <a:srgbClr val="AAAB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 ACHIEVEMENTS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610783" y="1855089"/>
            <a:ext cx="2651760" cy="4922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7E7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主要完成项与进度</a:t>
            </a:r>
            <a:endParaRPr lang="en-US" sz="252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" y="1635404"/>
            <a:ext cx="5782848" cy="60261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93475" y="2754356"/>
            <a:ext cx="499872" cy="5760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790670" y="2670094"/>
            <a:ext cx="2118390" cy="4465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28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自动化平台升级</a:t>
            </a:r>
            <a:endParaRPr lang="en-US" sz="2280" dirty="0"/>
          </a:p>
        </p:txBody>
      </p:sp>
      <p:sp>
        <p:nvSpPr>
          <p:cNvPr id="12" name="Text 8"/>
          <p:cNvSpPr/>
          <p:nvPr/>
        </p:nvSpPr>
        <p:spPr>
          <a:xfrm>
            <a:off x="1790670" y="3085186"/>
            <a:ext cx="2819629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198" dirty="0">
                <a:solidFill>
                  <a:srgbClr val="5B8DEF">
                    <a:alpha val="8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Automation Platform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04870" y="3688964"/>
            <a:ext cx="3718590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完成飞书消息从文本格式向云文档格式</a:t>
            </a:r>
            <a:endParaRPr lang="en-US" sz="1680" dirty="0"/>
          </a:p>
        </p:txBody>
      </p:sp>
      <p:sp>
        <p:nvSpPr>
          <p:cNvPr id="14" name="Text 10"/>
          <p:cNvSpPr/>
          <p:nvPr/>
        </p:nvSpPr>
        <p:spPr>
          <a:xfrm>
            <a:off x="1104870" y="4030309"/>
            <a:ext cx="3718590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的升级，提升信息展示效果和可读性。</a:t>
            </a:r>
            <a:endParaRPr lang="en-US" sz="168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776" y="1635404"/>
            <a:ext cx="5782848" cy="60261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82595" y="2754356"/>
            <a:ext cx="499872" cy="5760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179790" y="2670094"/>
            <a:ext cx="1828800" cy="4465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28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并发性能测试</a:t>
            </a:r>
            <a:endParaRPr lang="en-US" sz="2280" dirty="0"/>
          </a:p>
        </p:txBody>
      </p:sp>
      <p:sp>
        <p:nvSpPr>
          <p:cNvPr id="18" name="Text 13"/>
          <p:cNvSpPr/>
          <p:nvPr/>
        </p:nvSpPr>
        <p:spPr>
          <a:xfrm>
            <a:off x="6179790" y="3085186"/>
            <a:ext cx="2819629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198" dirty="0">
                <a:solidFill>
                  <a:srgbClr val="E0A23A">
                    <a:alpha val="8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Performance Testing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93990" y="3688964"/>
            <a:ext cx="3738982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体检报告001测试集完成4/8/10/16线</a:t>
            </a:r>
            <a:endParaRPr lang="en-US" sz="1680" dirty="0"/>
          </a:p>
        </p:txBody>
      </p:sp>
      <p:sp>
        <p:nvSpPr>
          <p:cNvPr id="20" name="Text 15"/>
          <p:cNvSpPr/>
          <p:nvPr/>
        </p:nvSpPr>
        <p:spPr>
          <a:xfrm>
            <a:off x="5493990" y="4030309"/>
            <a:ext cx="3544032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路并发跑测，构建event0-4平均时间</a:t>
            </a:r>
            <a:endParaRPr lang="en-US" sz="1680" dirty="0"/>
          </a:p>
        </p:txBody>
      </p:sp>
      <p:sp>
        <p:nvSpPr>
          <p:cNvPr id="21" name="Text 16"/>
          <p:cNvSpPr/>
          <p:nvPr/>
        </p:nvSpPr>
        <p:spPr>
          <a:xfrm>
            <a:off x="5493990" y="4371655"/>
            <a:ext cx="1158270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计算脚本。</a:t>
            </a:r>
            <a:endParaRPr lang="en-US" sz="168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896" y="1635404"/>
            <a:ext cx="5782848" cy="60261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971715" y="2754356"/>
            <a:ext cx="499872" cy="5760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0568910" y="2670094"/>
            <a:ext cx="1539210" cy="4465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28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测试集构建</a:t>
            </a:r>
            <a:endParaRPr lang="en-US" sz="2280" dirty="0"/>
          </a:p>
        </p:txBody>
      </p:sp>
      <p:sp>
        <p:nvSpPr>
          <p:cNvPr id="25" name="Text 19"/>
          <p:cNvSpPr/>
          <p:nvPr/>
        </p:nvSpPr>
        <p:spPr>
          <a:xfrm>
            <a:off x="10568910" y="3085186"/>
            <a:ext cx="2939240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198" dirty="0">
                <a:solidFill>
                  <a:srgbClr val="46B083">
                    <a:alpha val="8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 Set Development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883110" y="3688964"/>
            <a:ext cx="3505170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合肥陕西疾控测试集构建进行中，完</a:t>
            </a:r>
            <a:endParaRPr lang="en-US" sz="1680" dirty="0"/>
          </a:p>
        </p:txBody>
      </p:sp>
      <p:sp>
        <p:nvSpPr>
          <p:cNvPr id="27" name="Text 21"/>
          <p:cNvSpPr/>
          <p:nvPr/>
        </p:nvSpPr>
        <p:spPr>
          <a:xfrm>
            <a:off x="9883110" y="4030309"/>
            <a:ext cx="3308756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成50%，待相关性标准验证后继续</a:t>
            </a:r>
            <a:endParaRPr lang="en-US" sz="1680" dirty="0"/>
          </a:p>
        </p:txBody>
      </p:sp>
      <p:sp>
        <p:nvSpPr>
          <p:cNvPr id="28" name="Text 22"/>
          <p:cNvSpPr/>
          <p:nvPr/>
        </p:nvSpPr>
        <p:spPr>
          <a:xfrm>
            <a:off x="9883110" y="4371655"/>
            <a:ext cx="731520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168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推进。</a:t>
            </a:r>
            <a:endParaRPr lang="en-US" sz="1680" dirty="0"/>
          </a:p>
        </p:txBody>
      </p:sp>
      <p:sp>
        <p:nvSpPr>
          <p:cNvPr id="29" name="Text 23"/>
          <p:cNvSpPr/>
          <p:nvPr/>
        </p:nvSpPr>
        <p:spPr>
          <a:xfrm>
            <a:off x="822960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*/</a:t>
            </a:r>
            <a:endParaRPr lang="en-US" sz="1585" dirty="0"/>
          </a:p>
        </p:txBody>
      </p:sp>
      <p:sp>
        <p:nvSpPr>
          <p:cNvPr id="30" name="Text 24"/>
          <p:cNvSpPr/>
          <p:nvPr/>
        </p:nvSpPr>
        <p:spPr>
          <a:xfrm>
            <a:off x="1169792" y="7315200"/>
            <a:ext cx="338195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从赌叙事到看兑现 · 退潮之后见真章</a:t>
            </a:r>
            <a:endParaRPr lang="en-US" sz="1585" dirty="0"/>
          </a:p>
        </p:txBody>
      </p:sp>
      <p:sp>
        <p:nvSpPr>
          <p:cNvPr id="31" name="Text 25"/>
          <p:cNvSpPr/>
          <p:nvPr/>
        </p:nvSpPr>
        <p:spPr>
          <a:xfrm>
            <a:off x="4314688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/*</a:t>
            </a:r>
            <a:endParaRPr lang="en-US" sz="15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989381" cy="313822"/>
          </a:xfrm>
          <a:prstGeom prst="roundRect">
            <a:avLst>
              <a:gd name="adj" fmla="val 33247"/>
            </a:avLst>
          </a:prstGeom>
          <a:solidFill>
            <a:srgbClr val="5B8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859993" cy="34125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440" b="1" kern="0" spc="7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工作详情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15"/>
              </a:lnSpc>
              <a:buNone/>
            </a:pPr>
            <a:r>
              <a:rPr lang="en-US" sz="4680" b="1" kern="0" spc="70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任务进度一览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89460"/>
            <a:ext cx="4832238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kern="0" spc="336" dirty="0">
                <a:solidFill>
                  <a:srgbClr val="AAAB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 PROGRESS OVERVIEW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599158" y="1855089"/>
            <a:ext cx="3611880" cy="4922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7E7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详细任务进度与完成情况</a:t>
            </a:r>
            <a:endParaRPr lang="en-US" sz="2520" dirty="0"/>
          </a:p>
        </p:txBody>
      </p:sp>
      <p:sp>
        <p:nvSpPr>
          <p:cNvPr id="9" name="Shape 6"/>
          <p:cNvSpPr/>
          <p:nvPr/>
        </p:nvSpPr>
        <p:spPr>
          <a:xfrm>
            <a:off x="822960" y="2423800"/>
            <a:ext cx="12984480" cy="4632350"/>
          </a:xfrm>
          <a:prstGeom prst="roundRect">
            <a:avLst>
              <a:gd name="adj" fmla="val 6507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blurRad="76200" dist="12700" dir="5400000" algn="bl" rotWithShape="0">
              <a:srgbClr val="FFFFFF">
                <a:alpha val="7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68" y="2074316"/>
            <a:ext cx="13683356" cy="1552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5410" y="2701869"/>
            <a:ext cx="504749" cy="3246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</a:t>
            </a:r>
            <a:endParaRPr lang="en-US" sz="1620" dirty="0"/>
          </a:p>
        </p:txBody>
      </p:sp>
      <p:sp>
        <p:nvSpPr>
          <p:cNvPr id="12" name="Text 8"/>
          <p:cNvSpPr/>
          <p:nvPr/>
        </p:nvSpPr>
        <p:spPr>
          <a:xfrm>
            <a:off x="10038283" y="2698120"/>
            <a:ext cx="544251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8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进度</a:t>
            </a:r>
            <a:endParaRPr lang="en-US" sz="1780" dirty="0"/>
          </a:p>
        </p:txBody>
      </p:sp>
      <p:sp>
        <p:nvSpPr>
          <p:cNvPr id="13" name="Text 9"/>
          <p:cNvSpPr/>
          <p:nvPr/>
        </p:nvSpPr>
        <p:spPr>
          <a:xfrm>
            <a:off x="13075463" y="2698120"/>
            <a:ext cx="544251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8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状态</a:t>
            </a:r>
            <a:endParaRPr lang="en-US" sz="178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82" y="2629632"/>
            <a:ext cx="13822436" cy="18237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5410" y="3368330"/>
            <a:ext cx="1744950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46B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自动化平台升级</a:t>
            </a:r>
            <a:endParaRPr lang="en-US" sz="1860" dirty="0"/>
          </a:p>
        </p:txBody>
      </p:sp>
      <p:sp>
        <p:nvSpPr>
          <p:cNvPr id="16" name="Text 11"/>
          <p:cNvSpPr/>
          <p:nvPr/>
        </p:nvSpPr>
        <p:spPr>
          <a:xfrm>
            <a:off x="9748967" y="3320552"/>
            <a:ext cx="896463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46B08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100%</a:t>
            </a:r>
            <a:endParaRPr lang="en-US" sz="2510" dirty="0"/>
          </a:p>
        </p:txBody>
      </p:sp>
      <p:sp>
        <p:nvSpPr>
          <p:cNvPr id="17" name="Text 12"/>
          <p:cNvSpPr/>
          <p:nvPr/>
        </p:nvSpPr>
        <p:spPr>
          <a:xfrm>
            <a:off x="12609302" y="3323158"/>
            <a:ext cx="1027054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46B08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已完成</a:t>
            </a:r>
            <a:endParaRPr lang="en-US" sz="2510" dirty="0"/>
          </a:p>
        </p:txBody>
      </p:sp>
      <p:sp>
        <p:nvSpPr>
          <p:cNvPr id="18" name="Shape 13"/>
          <p:cNvSpPr/>
          <p:nvPr/>
        </p:nvSpPr>
        <p:spPr>
          <a:xfrm>
            <a:off x="937260" y="3920124"/>
            <a:ext cx="12755880" cy="75739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2B2B30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7260" y="4665929"/>
            <a:ext cx="12755880" cy="11593"/>
          </a:xfrm>
          <a:prstGeom prst="rect">
            <a:avLst/>
          </a:prstGeom>
          <a:solidFill>
            <a:srgbClr val="464864">
              <a:alpha val="10000"/>
            </a:srgbClr>
          </a:solidFill>
          <a:ln w="12700">
            <a:solidFill>
              <a:srgbClr val="464864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35410" y="4125544"/>
            <a:ext cx="1981230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体检报告并发测试</a:t>
            </a:r>
            <a:endParaRPr lang="en-US" sz="1860" dirty="0"/>
          </a:p>
        </p:txBody>
      </p:sp>
      <p:sp>
        <p:nvSpPr>
          <p:cNvPr id="21" name="Text 16"/>
          <p:cNvSpPr/>
          <p:nvPr/>
        </p:nvSpPr>
        <p:spPr>
          <a:xfrm>
            <a:off x="9748967" y="4077767"/>
            <a:ext cx="896463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100%</a:t>
            </a:r>
            <a:endParaRPr lang="en-US" sz="2510" dirty="0"/>
          </a:p>
        </p:txBody>
      </p:sp>
      <p:sp>
        <p:nvSpPr>
          <p:cNvPr id="22" name="Text 17"/>
          <p:cNvSpPr/>
          <p:nvPr/>
        </p:nvSpPr>
        <p:spPr>
          <a:xfrm>
            <a:off x="12609302" y="4080373"/>
            <a:ext cx="1027054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已完成</a:t>
            </a:r>
            <a:endParaRPr lang="en-US" sz="2510" dirty="0"/>
          </a:p>
        </p:txBody>
      </p:sp>
      <p:sp>
        <p:nvSpPr>
          <p:cNvPr id="23" name="Shape 18"/>
          <p:cNvSpPr/>
          <p:nvPr/>
        </p:nvSpPr>
        <p:spPr>
          <a:xfrm>
            <a:off x="937260" y="4677522"/>
            <a:ext cx="12755880" cy="75721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B2B30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7260" y="5423143"/>
            <a:ext cx="12755880" cy="11593"/>
          </a:xfrm>
          <a:prstGeom prst="rect">
            <a:avLst/>
          </a:prstGeom>
          <a:solidFill>
            <a:srgbClr val="464864">
              <a:alpha val="10000"/>
            </a:srgbClr>
          </a:solidFill>
          <a:ln w="12700">
            <a:solidFill>
              <a:srgbClr val="464864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35410" y="4882942"/>
            <a:ext cx="1508760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性能脚本开发</a:t>
            </a:r>
            <a:endParaRPr lang="en-US" sz="1860" dirty="0"/>
          </a:p>
        </p:txBody>
      </p:sp>
      <p:sp>
        <p:nvSpPr>
          <p:cNvPr id="26" name="Text 21"/>
          <p:cNvSpPr/>
          <p:nvPr/>
        </p:nvSpPr>
        <p:spPr>
          <a:xfrm>
            <a:off x="9748967" y="4835164"/>
            <a:ext cx="896463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100%</a:t>
            </a:r>
            <a:endParaRPr lang="en-US" sz="2510" dirty="0"/>
          </a:p>
        </p:txBody>
      </p:sp>
      <p:sp>
        <p:nvSpPr>
          <p:cNvPr id="27" name="Text 22"/>
          <p:cNvSpPr/>
          <p:nvPr/>
        </p:nvSpPr>
        <p:spPr>
          <a:xfrm>
            <a:off x="12609302" y="4837770"/>
            <a:ext cx="1027054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已完成</a:t>
            </a:r>
            <a:endParaRPr lang="en-US" sz="2510" dirty="0"/>
          </a:p>
        </p:txBody>
      </p:sp>
      <p:sp>
        <p:nvSpPr>
          <p:cNvPr id="28" name="Shape 23"/>
          <p:cNvSpPr/>
          <p:nvPr/>
        </p:nvSpPr>
        <p:spPr>
          <a:xfrm>
            <a:off x="937260" y="5434736"/>
            <a:ext cx="12755880" cy="75739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2B2B30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7260" y="6180541"/>
            <a:ext cx="12755880" cy="11593"/>
          </a:xfrm>
          <a:prstGeom prst="rect">
            <a:avLst/>
          </a:prstGeom>
          <a:solidFill>
            <a:srgbClr val="464864">
              <a:alpha val="10000"/>
            </a:srgbClr>
          </a:solidFill>
          <a:ln w="12700">
            <a:solidFill>
              <a:srgbClr val="464864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135410" y="5640156"/>
            <a:ext cx="1744950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疾控测试集构建</a:t>
            </a:r>
            <a:endParaRPr lang="en-US" sz="1860" dirty="0"/>
          </a:p>
        </p:txBody>
      </p:sp>
      <p:sp>
        <p:nvSpPr>
          <p:cNvPr id="31" name="Text 26"/>
          <p:cNvSpPr/>
          <p:nvPr/>
        </p:nvSpPr>
        <p:spPr>
          <a:xfrm>
            <a:off x="9926086" y="5592379"/>
            <a:ext cx="692612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50%</a:t>
            </a:r>
            <a:endParaRPr lang="en-US" sz="2510" dirty="0"/>
          </a:p>
        </p:txBody>
      </p:sp>
      <p:sp>
        <p:nvSpPr>
          <p:cNvPr id="32" name="Text 27"/>
          <p:cNvSpPr/>
          <p:nvPr/>
        </p:nvSpPr>
        <p:spPr>
          <a:xfrm>
            <a:off x="12609302" y="5594985"/>
            <a:ext cx="1027054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进行中</a:t>
            </a:r>
            <a:endParaRPr lang="en-US" sz="2510" dirty="0"/>
          </a:p>
        </p:txBody>
      </p:sp>
      <p:sp>
        <p:nvSpPr>
          <p:cNvPr id="33" name="Text 28"/>
          <p:cNvSpPr/>
          <p:nvPr/>
        </p:nvSpPr>
        <p:spPr>
          <a:xfrm>
            <a:off x="1135410" y="6397462"/>
            <a:ext cx="1272570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召回库建设</a:t>
            </a:r>
            <a:endParaRPr lang="en-US" sz="1860" dirty="0"/>
          </a:p>
        </p:txBody>
      </p:sp>
      <p:sp>
        <p:nvSpPr>
          <p:cNvPr id="34" name="Text 29"/>
          <p:cNvSpPr/>
          <p:nvPr/>
        </p:nvSpPr>
        <p:spPr>
          <a:xfrm>
            <a:off x="9926086" y="6349685"/>
            <a:ext cx="692612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10%</a:t>
            </a:r>
            <a:endParaRPr lang="en-US" sz="2510" dirty="0"/>
          </a:p>
        </p:txBody>
      </p:sp>
      <p:sp>
        <p:nvSpPr>
          <p:cNvPr id="35" name="Text 30"/>
          <p:cNvSpPr/>
          <p:nvPr/>
        </p:nvSpPr>
        <p:spPr>
          <a:xfrm>
            <a:off x="12609302" y="6352291"/>
            <a:ext cx="1027054" cy="4617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10" b="1" dirty="0">
                <a:solidFill>
                  <a:srgbClr val="2B2B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启动中</a:t>
            </a:r>
            <a:endParaRPr lang="en-US" sz="2510" dirty="0"/>
          </a:p>
        </p:txBody>
      </p:sp>
      <p:sp>
        <p:nvSpPr>
          <p:cNvPr id="36" name="Text 31"/>
          <p:cNvSpPr/>
          <p:nvPr/>
        </p:nvSpPr>
        <p:spPr>
          <a:xfrm>
            <a:off x="822960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*/</a:t>
            </a:r>
            <a:endParaRPr lang="en-US" sz="1585" dirty="0"/>
          </a:p>
        </p:txBody>
      </p:sp>
      <p:sp>
        <p:nvSpPr>
          <p:cNvPr id="37" name="Text 32"/>
          <p:cNvSpPr/>
          <p:nvPr/>
        </p:nvSpPr>
        <p:spPr>
          <a:xfrm>
            <a:off x="1169792" y="7315200"/>
            <a:ext cx="4305087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表格 · 前三均为通用大模型，单笔规模断层领先</a:t>
            </a:r>
            <a:endParaRPr lang="en-US" sz="1585" dirty="0"/>
          </a:p>
        </p:txBody>
      </p:sp>
      <p:sp>
        <p:nvSpPr>
          <p:cNvPr id="38" name="Text 33"/>
          <p:cNvSpPr/>
          <p:nvPr/>
        </p:nvSpPr>
        <p:spPr>
          <a:xfrm>
            <a:off x="5247284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/*</a:t>
            </a:r>
            <a:endParaRPr lang="en-US" sz="15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989381" cy="313822"/>
          </a:xfrm>
          <a:prstGeom prst="roundRect">
            <a:avLst>
              <a:gd name="adj" fmla="val 33247"/>
            </a:avLst>
          </a:prstGeom>
          <a:solidFill>
            <a:srgbClr val="46B0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859993" cy="34125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440" b="1" kern="0" spc="7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下周计划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15"/>
              </a:lnSpc>
              <a:buNone/>
            </a:pPr>
            <a:r>
              <a:rPr lang="en-US" sz="4680" b="1" kern="0" spc="70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工作安排与推进路线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89460"/>
            <a:ext cx="3033187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kern="0" spc="336" dirty="0">
                <a:solidFill>
                  <a:srgbClr val="AAAB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NEXT WEEK PLAN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281324" y="1855089"/>
            <a:ext cx="4892040" cy="4922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7E7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持续推进测试集构建与召回库开发</a:t>
            </a:r>
            <a:endParaRPr lang="en-US" sz="2520" dirty="0"/>
          </a:p>
        </p:txBody>
      </p:sp>
      <p:sp>
        <p:nvSpPr>
          <p:cNvPr id="9" name="Shape 6"/>
          <p:cNvSpPr/>
          <p:nvPr/>
        </p:nvSpPr>
        <p:spPr>
          <a:xfrm>
            <a:off x="914400" y="3470514"/>
            <a:ext cx="12801600" cy="60990"/>
          </a:xfrm>
          <a:prstGeom prst="rect">
            <a:avLst/>
          </a:prstGeom>
          <a:solidFill>
            <a:srgbClr val="5E88C6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09550" dist="76200" dir="5400000" algn="bl" rotWithShape="0">
              <a:srgbClr val="46B083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11780" y="3181015"/>
            <a:ext cx="198150" cy="198150"/>
          </a:xfrm>
          <a:prstGeom prst="ellipse">
            <a:avLst/>
          </a:prstGeom>
          <a:solidFill>
            <a:srgbClr val="5B8DEF"/>
          </a:solidFill>
          <a:ln w="47625">
            <a:solidFill>
              <a:srgbClr val="FFFFFF"/>
            </a:solidFill>
            <a:prstDash val="solid"/>
          </a:ln>
          <a:effectLst>
            <a:outerShdw blurRad="190500" dist="76200" dir="5400000" algn="bl" rotWithShape="0">
              <a:srgbClr val="5B8DEF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 rot="-60000">
            <a:off x="2225010" y="3577224"/>
            <a:ext cx="1371600" cy="457200"/>
          </a:xfrm>
          <a:prstGeom prst="roundRect">
            <a:avLst>
              <a:gd name="adj" fmla="val 32964"/>
            </a:avLst>
          </a:prstGeom>
          <a:solidFill>
            <a:srgbClr val="23232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85750" dist="133350" dir="5400000" algn="bl" rotWithShape="0">
              <a:srgbClr val="14141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 rot="-60000">
            <a:off x="2391705" y="3771717"/>
            <a:ext cx="91440" cy="9144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 rot="-60000">
            <a:off x="2570836" y="3640775"/>
            <a:ext cx="1005777" cy="3530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80" b="1" kern="0" spc="4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持续推进</a:t>
            </a:r>
            <a:endParaRPr lang="en-US" sz="178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" y="3436955"/>
            <a:ext cx="5706039" cy="35813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43970" y="4423044"/>
            <a:ext cx="16987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b="1" kern="0" spc="288" dirty="0">
                <a:solidFill>
                  <a:srgbClr val="5B8DEF">
                    <a:alpha val="9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1：测试集完善</a:t>
            </a:r>
            <a:endParaRPr lang="en-US" sz="1585" dirty="0"/>
          </a:p>
        </p:txBody>
      </p:sp>
      <p:sp>
        <p:nvSpPr>
          <p:cNvPr id="16" name="Text 12"/>
          <p:cNvSpPr/>
          <p:nvPr/>
        </p:nvSpPr>
        <p:spPr>
          <a:xfrm>
            <a:off x="1234440" y="5274899"/>
            <a:ext cx="266703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60"/>
              </a:lnSpc>
              <a:buNone/>
            </a:pPr>
            <a:r>
              <a:rPr lang="en-US" sz="156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继续构建合肥陕西疾控测试集</a:t>
            </a:r>
            <a:endParaRPr lang="en-US" sz="1560" dirty="0"/>
          </a:p>
        </p:txBody>
      </p:sp>
      <p:sp>
        <p:nvSpPr>
          <p:cNvPr id="17" name="Text 13"/>
          <p:cNvSpPr/>
          <p:nvPr/>
        </p:nvSpPr>
        <p:spPr>
          <a:xfrm>
            <a:off x="1234440" y="5653552"/>
            <a:ext cx="187452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60"/>
              </a:lnSpc>
              <a:buNone/>
            </a:pPr>
            <a:r>
              <a:rPr lang="en-US" sz="156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等待相关性标准验证</a:t>
            </a:r>
            <a:endParaRPr lang="en-US" sz="1560" dirty="0"/>
          </a:p>
        </p:txBody>
      </p:sp>
      <p:sp>
        <p:nvSpPr>
          <p:cNvPr id="18" name="Shape 14"/>
          <p:cNvSpPr/>
          <p:nvPr/>
        </p:nvSpPr>
        <p:spPr>
          <a:xfrm>
            <a:off x="7185630" y="3181015"/>
            <a:ext cx="259050" cy="259050"/>
          </a:xfrm>
          <a:prstGeom prst="ellipse">
            <a:avLst/>
          </a:prstGeom>
          <a:solidFill>
            <a:srgbClr val="46B083"/>
          </a:solidFill>
          <a:ln w="47625">
            <a:solidFill>
              <a:srgbClr val="FFFFFF"/>
            </a:solidFill>
            <a:prstDash val="solid"/>
          </a:ln>
          <a:effectLst>
            <a:outerShdw blurRad="190500" dist="76200" dir="5400000" algn="bl" rotWithShape="0">
              <a:srgbClr val="46B083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28303" y="3638215"/>
            <a:ext cx="1373703" cy="457200"/>
          </a:xfrm>
          <a:prstGeom prst="roundRect">
            <a:avLst>
              <a:gd name="adj" fmla="val 32964"/>
            </a:avLst>
          </a:prstGeom>
          <a:solidFill>
            <a:srgbClr val="23232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85750" dist="133350" dir="5400000" algn="bl" rotWithShape="0">
              <a:srgbClr val="14141C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796004" y="3821095"/>
            <a:ext cx="91440" cy="91440"/>
          </a:xfrm>
          <a:prstGeom prst="ellipse">
            <a:avLst/>
          </a:prstGeom>
          <a:solidFill>
            <a:srgbClr val="46B0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78884" y="3714384"/>
            <a:ext cx="1005777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80" b="1" kern="0" spc="4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重点开发</a:t>
            </a:r>
            <a:endParaRPr lang="en-US" sz="178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154" y="3242828"/>
            <a:ext cx="6216091" cy="40304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63540" y="4499214"/>
            <a:ext cx="16987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b="1" kern="0" spc="288" dirty="0">
                <a:solidFill>
                  <a:srgbClr val="46B083">
                    <a:alpha val="9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2：召回库建设</a:t>
            </a:r>
            <a:endParaRPr lang="en-US" sz="1585" dirty="0"/>
          </a:p>
        </p:txBody>
      </p:sp>
      <p:sp>
        <p:nvSpPr>
          <p:cNvPr id="24" name="Text 19"/>
          <p:cNvSpPr/>
          <p:nvPr/>
        </p:nvSpPr>
        <p:spPr>
          <a:xfrm>
            <a:off x="5654010" y="5351160"/>
            <a:ext cx="187452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60"/>
              </a:lnSpc>
              <a:buNone/>
            </a:pPr>
            <a:r>
              <a:rPr lang="en-US" sz="156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推进召回库数据导入</a:t>
            </a:r>
            <a:endParaRPr lang="en-US" sz="1560" dirty="0"/>
          </a:p>
        </p:txBody>
      </p:sp>
      <p:sp>
        <p:nvSpPr>
          <p:cNvPr id="25" name="Text 20"/>
          <p:cNvSpPr/>
          <p:nvPr/>
        </p:nvSpPr>
        <p:spPr>
          <a:xfrm>
            <a:off x="5654010" y="5729722"/>
            <a:ext cx="128016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60"/>
              </a:lnSpc>
              <a:buNone/>
            </a:pPr>
            <a:r>
              <a:rPr lang="en-US" sz="156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完善基础功能</a:t>
            </a:r>
            <a:endParaRPr lang="en-US" sz="1560" dirty="0"/>
          </a:p>
        </p:txBody>
      </p:sp>
      <p:sp>
        <p:nvSpPr>
          <p:cNvPr id="26" name="Shape 21"/>
          <p:cNvSpPr/>
          <p:nvPr/>
        </p:nvSpPr>
        <p:spPr>
          <a:xfrm>
            <a:off x="11620470" y="3181015"/>
            <a:ext cx="198150" cy="198150"/>
          </a:xfrm>
          <a:prstGeom prst="ellipse">
            <a:avLst/>
          </a:prstGeom>
          <a:solidFill>
            <a:srgbClr val="7A5AE0"/>
          </a:solidFill>
          <a:ln w="47625">
            <a:solidFill>
              <a:srgbClr val="FFFFFF"/>
            </a:solidFill>
            <a:prstDash val="solid"/>
          </a:ln>
          <a:effectLst>
            <a:outerShdw blurRad="190500" dist="76200" dir="5400000" algn="bl" rotWithShape="0">
              <a:srgbClr val="7A5AE0">
                <a:alpha val="5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 rot="-60000">
            <a:off x="11033790" y="3577224"/>
            <a:ext cx="1371600" cy="457200"/>
          </a:xfrm>
          <a:prstGeom prst="roundRect">
            <a:avLst>
              <a:gd name="adj" fmla="val 32964"/>
            </a:avLst>
          </a:prstGeom>
          <a:solidFill>
            <a:srgbClr val="23232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85750" dist="133350" dir="5400000" algn="bl" rotWithShape="0">
              <a:srgbClr val="14141C">
                <a:alpha val="2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 rot="-60000">
            <a:off x="11200486" y="3771717"/>
            <a:ext cx="91440" cy="91440"/>
          </a:xfrm>
          <a:prstGeom prst="ellipse">
            <a:avLst/>
          </a:prstGeom>
          <a:solidFill>
            <a:srgbClr val="7A5A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 rot="-60000">
            <a:off x="11379617" y="3640775"/>
            <a:ext cx="1005777" cy="3530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80" b="1" kern="0" spc="4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协同对齐</a:t>
            </a:r>
            <a:endParaRPr lang="en-US" sz="178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571" y="3436955"/>
            <a:ext cx="5706039" cy="358133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852660" y="4423044"/>
            <a:ext cx="16987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b="1" kern="0" spc="288" dirty="0">
                <a:solidFill>
                  <a:srgbClr val="7A5AE0">
                    <a:alpha val="9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3：依赖项跟进</a:t>
            </a:r>
            <a:endParaRPr lang="en-US" sz="1585" dirty="0"/>
          </a:p>
        </p:txBody>
      </p:sp>
      <p:sp>
        <p:nvSpPr>
          <p:cNvPr id="32" name="Text 26"/>
          <p:cNvSpPr/>
          <p:nvPr/>
        </p:nvSpPr>
        <p:spPr>
          <a:xfrm>
            <a:off x="10043130" y="5274899"/>
            <a:ext cx="187452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60"/>
              </a:lnSpc>
              <a:buNone/>
            </a:pPr>
            <a:r>
              <a:rPr lang="en-US" sz="156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跟进英文知识库对齐</a:t>
            </a:r>
            <a:endParaRPr lang="en-US" sz="1560" dirty="0"/>
          </a:p>
        </p:txBody>
      </p:sp>
      <p:sp>
        <p:nvSpPr>
          <p:cNvPr id="33" name="Text 27"/>
          <p:cNvSpPr/>
          <p:nvPr/>
        </p:nvSpPr>
        <p:spPr>
          <a:xfrm>
            <a:off x="10043130" y="5653552"/>
            <a:ext cx="187452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60"/>
              </a:lnSpc>
              <a:buNone/>
            </a:pPr>
            <a:r>
              <a:rPr lang="en-US" sz="1560" dirty="0">
                <a:solidFill>
                  <a:srgbClr val="5656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疾控相关性标准确认</a:t>
            </a:r>
            <a:endParaRPr lang="en-US" sz="1560" dirty="0"/>
          </a:p>
        </p:txBody>
      </p:sp>
      <p:sp>
        <p:nvSpPr>
          <p:cNvPr id="34" name="Text 28"/>
          <p:cNvSpPr/>
          <p:nvPr/>
        </p:nvSpPr>
        <p:spPr>
          <a:xfrm>
            <a:off x="822960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*/</a:t>
            </a:r>
            <a:endParaRPr lang="en-US" sz="1585" dirty="0"/>
          </a:p>
        </p:txBody>
      </p:sp>
      <p:sp>
        <p:nvSpPr>
          <p:cNvPr id="35" name="Text 29"/>
          <p:cNvSpPr/>
          <p:nvPr/>
        </p:nvSpPr>
        <p:spPr>
          <a:xfrm>
            <a:off x="1169792" y="7315200"/>
            <a:ext cx="3500598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路线图 · 不同阶段，资本动作各不相同</a:t>
            </a:r>
            <a:endParaRPr lang="en-US" sz="1585" dirty="0"/>
          </a:p>
        </p:txBody>
      </p:sp>
      <p:sp>
        <p:nvSpPr>
          <p:cNvPr id="36" name="Text 30"/>
          <p:cNvSpPr/>
          <p:nvPr/>
        </p:nvSpPr>
        <p:spPr>
          <a:xfrm>
            <a:off x="4501134" y="7315200"/>
            <a:ext cx="43827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36" dirty="0">
                <a:solidFill>
                  <a:srgbClr val="9A9B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/*</a:t>
            </a:r>
            <a:endParaRPr lang="en-US" sz="15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701070"/>
            <a:ext cx="989381" cy="313822"/>
          </a:xfrm>
          <a:prstGeom prst="roundRect">
            <a:avLst>
              <a:gd name="adj" fmla="val 33247"/>
            </a:avLst>
          </a:prstGeom>
          <a:solidFill>
            <a:srgbClr val="5B8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260" y="701070"/>
            <a:ext cx="859993" cy="34125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440" b="1" kern="0" spc="7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感谢阅读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822960" y="1132835"/>
            <a:ext cx="13075920" cy="6514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15"/>
              </a:lnSpc>
              <a:buNone/>
            </a:pPr>
            <a:r>
              <a:rPr lang="en-US" sz="4680" b="1" kern="0" spc="70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持续精进</a:t>
            </a:r>
            <a:endParaRPr lang="en-US" sz="4680" dirty="0"/>
          </a:p>
        </p:txBody>
      </p:sp>
      <p:sp>
        <p:nvSpPr>
          <p:cNvPr id="7" name="Text 4"/>
          <p:cNvSpPr/>
          <p:nvPr/>
        </p:nvSpPr>
        <p:spPr>
          <a:xfrm>
            <a:off x="822960" y="1989460"/>
            <a:ext cx="5560436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kern="0" spc="336" dirty="0">
                <a:solidFill>
                  <a:srgbClr val="AAAB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THANK YOU · KEEP IMPROVING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257891" y="1855089"/>
            <a:ext cx="5346222" cy="4922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7E7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纪浩阳 · AI测试部 · 2026年第28周</a:t>
            </a:r>
            <a:endParaRPr lang="en-US" sz="2520" dirty="0"/>
          </a:p>
        </p:txBody>
      </p:sp>
      <p:sp>
        <p:nvSpPr>
          <p:cNvPr id="9" name="Text 6"/>
          <p:cNvSpPr/>
          <p:nvPr/>
        </p:nvSpPr>
        <p:spPr>
          <a:xfrm>
            <a:off x="822960" y="2454250"/>
            <a:ext cx="105023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b="1" kern="0" spc="252" dirty="0">
                <a:solidFill>
                  <a:srgbClr val="5B8DEF">
                    <a:alpha val="9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核心价值</a:t>
            </a:r>
            <a:endParaRPr lang="en-US" sz="1585" dirty="0"/>
          </a:p>
        </p:txBody>
      </p:sp>
      <p:sp>
        <p:nvSpPr>
          <p:cNvPr id="10" name="Text 7"/>
          <p:cNvSpPr/>
          <p:nvPr/>
        </p:nvSpPr>
        <p:spPr>
          <a:xfrm>
            <a:off x="990570" y="3615193"/>
            <a:ext cx="860755" cy="8122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620" b="1" kern="0" spc="-105" dirty="0">
                <a:solidFill>
                  <a:srgbClr val="5B8DEF">
                    <a:alpha val="5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4620" dirty="0"/>
          </a:p>
        </p:txBody>
      </p:sp>
      <p:sp>
        <p:nvSpPr>
          <p:cNvPr id="11" name="Text 8"/>
          <p:cNvSpPr/>
          <p:nvPr/>
        </p:nvSpPr>
        <p:spPr>
          <a:xfrm>
            <a:off x="1920240" y="3638900"/>
            <a:ext cx="2541849" cy="4007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45"/>
              </a:lnSpc>
              <a:buNone/>
            </a:pPr>
            <a:r>
              <a:rPr lang="en-US" sz="204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持续学习 · 提升能力</a:t>
            </a:r>
            <a:endParaRPr lang="en-US" sz="2040" dirty="0"/>
          </a:p>
        </p:txBody>
      </p:sp>
      <p:sp>
        <p:nvSpPr>
          <p:cNvPr id="12" name="Text 9"/>
          <p:cNvSpPr/>
          <p:nvPr/>
        </p:nvSpPr>
        <p:spPr>
          <a:xfrm>
            <a:off x="1920240" y="4003152"/>
            <a:ext cx="376120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PitchBook · Crunchbase 等一级市场数据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5178064"/>
            <a:ext cx="12984480" cy="2411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B2B3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5178064"/>
            <a:ext cx="12984480" cy="11593"/>
          </a:xfrm>
          <a:prstGeom prst="rect">
            <a:avLst/>
          </a:prstGeom>
          <a:solidFill>
            <a:srgbClr val="2B2B30">
              <a:alpha val="12000"/>
            </a:srgbClr>
          </a:solidFill>
          <a:ln w="12700">
            <a:solidFill>
              <a:srgbClr val="2B2B3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0570" y="6026649"/>
            <a:ext cx="860755" cy="8122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620" b="1" kern="0" spc="-105" dirty="0">
                <a:solidFill>
                  <a:srgbClr val="5B8DEF">
                    <a:alpha val="55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4620" dirty="0"/>
          </a:p>
        </p:txBody>
      </p:sp>
      <p:sp>
        <p:nvSpPr>
          <p:cNvPr id="16" name="Text 13"/>
          <p:cNvSpPr/>
          <p:nvPr/>
        </p:nvSpPr>
        <p:spPr>
          <a:xfrm>
            <a:off x="1920240" y="6050356"/>
            <a:ext cx="2541849" cy="4007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45"/>
              </a:lnSpc>
              <a:buNone/>
            </a:pPr>
            <a:r>
              <a:rPr lang="en-US" sz="2040" b="1" dirty="0">
                <a:solidFill>
                  <a:srgbClr val="2B2B3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精益求精 · 追求卓越</a:t>
            </a:r>
            <a:endParaRPr lang="en-US" sz="2040" dirty="0"/>
          </a:p>
        </p:txBody>
      </p:sp>
      <p:sp>
        <p:nvSpPr>
          <p:cNvPr id="17" name="Text 14"/>
          <p:cNvSpPr/>
          <p:nvPr/>
        </p:nvSpPr>
        <p:spPr>
          <a:xfrm>
            <a:off x="1920240" y="6414607"/>
            <a:ext cx="2653680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9B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官方披露 · 主流财经媒体报道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WPS 演示</Application>
  <PresentationFormat>On-screen Show (16:9)</PresentationFormat>
  <Paragraphs>220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Courier New</vt:lpstr>
      <vt:lpstr>Courier New</vt:lpstr>
      <vt:lpstr>Courier New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纪浩阳个人周报</dc:title>
  <dc:creator>Dashi PPT</dc:creator>
  <dc:subject>Editable PPTX export</dc:subject>
  <cp:lastModifiedBy>hyji11</cp:lastModifiedBy>
  <cp:revision>2</cp:revision>
  <dcterms:created xsi:type="dcterms:W3CDTF">2026-07-16T06:34:00Z</dcterms:created>
  <dcterms:modified xsi:type="dcterms:W3CDTF">2026-07-16T06:35:34Z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7980584080e011f18000257000002570">
    <vt:lpwstr>CWMApeDGEjOw3AyWcfiOZVvjmSuqBrvOPtwhHIHkBplvydvY2hTezA90y0xhmFVd5S1FHFqnFetc3CuhBtLZNXpyA==</vt:lpwstr>
  </property>
  <property fmtid="{D5CDD505-2E9C-101B-9397-08002B2CF9AE}" pid="3" name="ICV">
    <vt:lpwstr>6C8DEE6AB7234A48B4F9107170105365_13</vt:lpwstr>
  </property>
  <property fmtid="{D5CDD505-2E9C-101B-9397-08002B2CF9AE}" pid="4" name="KSOProductBuildVer">
    <vt:lpwstr>2052-12.8.2.21555</vt:lpwstr>
  </property>
</Properties>
</file>